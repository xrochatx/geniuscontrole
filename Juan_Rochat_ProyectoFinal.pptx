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60" r:id="rId5"/>
    <p:sldId id="261" r:id="rId6"/>
    <p:sldId id="263" r:id="rId7"/>
    <p:sldId id="275" r:id="rId8"/>
    <p:sldId id="262" r:id="rId9"/>
    <p:sldId id="265" r:id="rId10"/>
    <p:sldId id="276" r:id="rId11"/>
    <p:sldId id="277" r:id="rId12"/>
    <p:sldId id="264" r:id="rId13"/>
    <p:sldId id="268" r:id="rId14"/>
    <p:sldId id="272" r:id="rId15"/>
    <p:sldId id="273" r:id="rId16"/>
    <p:sldId id="274" r:id="rId17"/>
    <p:sldId id="278" r:id="rId18"/>
  </p:sldIdLst>
  <p:sldSz cx="9144000" cy="5143500" type="screen16x9"/>
  <p:notesSz cx="6797675" cy="9926638"/>
  <p:custDataLst>
    <p:tags r:id="rId21"/>
  </p:custDataLst>
  <p:defaultTextStyle>
    <a:defPPr>
      <a:defRPr lang="en-US"/>
    </a:defPPr>
    <a:lvl1pPr algn="l" defTabSz="3429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pitchFamily="-65" charset="-128"/>
        <a:cs typeface="+mn-cs"/>
      </a:defRPr>
    </a:lvl1pPr>
    <a:lvl2pPr marL="342900" algn="l" defTabSz="3429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pitchFamily="-65" charset="-128"/>
        <a:cs typeface="+mn-cs"/>
      </a:defRPr>
    </a:lvl2pPr>
    <a:lvl3pPr marL="685800" algn="l" defTabSz="3429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pitchFamily="-65" charset="-128"/>
        <a:cs typeface="+mn-cs"/>
      </a:defRPr>
    </a:lvl3pPr>
    <a:lvl4pPr marL="1028700" algn="l" defTabSz="3429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pitchFamily="-65" charset="-128"/>
        <a:cs typeface="+mn-cs"/>
      </a:defRPr>
    </a:lvl4pPr>
    <a:lvl5pPr marL="1371600" algn="l" defTabSz="3429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pitchFamily="-65" charset="-128"/>
        <a:cs typeface="+mn-cs"/>
      </a:defRPr>
    </a:lvl5pPr>
    <a:lvl6pPr marL="1714500" algn="l" defTabSz="685800" rtl="0" eaLnBrk="1" latinLnBrk="0" hangingPunct="1">
      <a:defRPr kern="1200">
        <a:solidFill>
          <a:schemeClr val="tx1"/>
        </a:solidFill>
        <a:latin typeface="Arial" charset="0"/>
        <a:ea typeface="ヒラギノ角ゴ Pro W3" pitchFamily="-65" charset="-128"/>
        <a:cs typeface="+mn-cs"/>
      </a:defRPr>
    </a:lvl6pPr>
    <a:lvl7pPr marL="2057400" algn="l" defTabSz="685800" rtl="0" eaLnBrk="1" latinLnBrk="0" hangingPunct="1">
      <a:defRPr kern="1200">
        <a:solidFill>
          <a:schemeClr val="tx1"/>
        </a:solidFill>
        <a:latin typeface="Arial" charset="0"/>
        <a:ea typeface="ヒラギノ角ゴ Pro W3" pitchFamily="-65" charset="-128"/>
        <a:cs typeface="+mn-cs"/>
      </a:defRPr>
    </a:lvl7pPr>
    <a:lvl8pPr marL="2400300" algn="l" defTabSz="685800" rtl="0" eaLnBrk="1" latinLnBrk="0" hangingPunct="1">
      <a:defRPr kern="1200">
        <a:solidFill>
          <a:schemeClr val="tx1"/>
        </a:solidFill>
        <a:latin typeface="Arial" charset="0"/>
        <a:ea typeface="ヒラギノ角ゴ Pro W3" pitchFamily="-65" charset="-128"/>
        <a:cs typeface="+mn-cs"/>
      </a:defRPr>
    </a:lvl8pPr>
    <a:lvl9pPr marL="2743200" algn="l" defTabSz="685800" rtl="0" eaLnBrk="1" latinLnBrk="0" hangingPunct="1">
      <a:defRPr kern="1200">
        <a:solidFill>
          <a:schemeClr val="tx1"/>
        </a:solidFill>
        <a:latin typeface="Arial" charset="0"/>
        <a:ea typeface="ヒラギノ角ゴ Pro W3" pitchFamily="-65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ximena.mellado" initials="xmo" lastIdx="2" clrIdx="0"/>
  <p:cmAuthor id="1" name="Daniel Esteban Fuentes Urbina" initials="DEFU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B51D"/>
    <a:srgbClr val="A5DD9A"/>
    <a:srgbClr val="DAE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Objects="1">
      <p:cViewPr varScale="1">
        <p:scale>
          <a:sx n="128" d="100"/>
          <a:sy n="128" d="100"/>
        </p:scale>
        <p:origin x="1134" y="33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1FE745-CF3E-4EE7-9187-A035C90C7CD7}" type="datetimeFigureOut">
              <a:rPr lang="es-ES" smtClean="0"/>
              <a:t>28/06/2025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CF76F3-B82E-4265-8FA5-541C14B6926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60249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4F396-4261-4868-8CB3-3DE0A47BDEFC}" type="datetimeFigureOut">
              <a:rPr lang="es-CL" smtClean="0"/>
              <a:t>28-06-2025</a:t>
            </a:fld>
            <a:endParaRPr lang="es-CL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C7F53-9344-4982-A63C-77FE48A9DE92}" type="slidenum">
              <a:rPr lang="es-CL" smtClean="0"/>
              <a:t>‹Nº›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34965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09B15AC5-3954-41E3-9A78-300761C3DD76}" type="datetime1">
              <a:rPr lang="en-US"/>
              <a:pPr>
                <a:defRPr/>
              </a:pPr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B2958666-34C8-456B-9138-D63B7CAD0D07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06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3FDB5E-C07D-4796-9FF2-FEBCE65BC780}" type="datetimeFigureOut">
              <a:rPr lang="es-CL" smtClean="0"/>
              <a:pPr/>
              <a:t>28-06-2025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996EDB2-3CB9-4A39-A083-79F2A87BB10F}" type="slidenum">
              <a:rPr lang="es-CL" smtClean="0"/>
              <a:pPr/>
              <a:t>‹Nº›</a:t>
            </a:fld>
            <a:endParaRPr lang="es-CL"/>
          </a:p>
        </p:txBody>
      </p:sp>
      <p:pic>
        <p:nvPicPr>
          <p:cNvPr id="7" name="Plantilla presentación IACC 2019 3 2.001.jpeg" descr="Plantilla presentación IACC 2019 3 2.001.jpeg">
            <a:extLst>
              <a:ext uri="{FF2B5EF4-FFF2-40B4-BE49-F238E27FC236}">
                <a16:creationId xmlns:a16="http://schemas.microsoft.com/office/drawing/2014/main" id="{C797401F-C509-5140-A7C9-FFFE93AE15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19906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3FDB5E-C07D-4796-9FF2-FEBCE65BC780}" type="datetimeFigureOut">
              <a:rPr lang="es-CL" smtClean="0"/>
              <a:pPr/>
              <a:t>28-06-2025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996EDB2-3CB9-4A39-A083-79F2A87BB10F}" type="slidenum">
              <a:rPr lang="es-CL" smtClean="0"/>
              <a:pPr/>
              <a:t>‹Nº›</a:t>
            </a:fld>
            <a:endParaRPr lang="es-CL"/>
          </a:p>
        </p:txBody>
      </p:sp>
      <p:pic>
        <p:nvPicPr>
          <p:cNvPr id="7" name="Plantilla presentación IACC 2019 3 2.005.jpeg" descr="Plantilla presentación IACC 2019 3 2.005.jpeg">
            <a:extLst>
              <a:ext uri="{FF2B5EF4-FFF2-40B4-BE49-F238E27FC236}">
                <a16:creationId xmlns:a16="http://schemas.microsoft.com/office/drawing/2014/main" id="{69068C81-80B3-2A46-99F6-357D422B59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67432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3FDB5E-C07D-4796-9FF2-FEBCE65BC780}" type="datetimeFigureOut">
              <a:rPr lang="es-CL" smtClean="0"/>
              <a:pPr/>
              <a:t>28-06-2025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996EDB2-3CB9-4A39-A083-79F2A87BB10F}" type="slidenum">
              <a:rPr lang="es-CL" smtClean="0"/>
              <a:pPr/>
              <a:t>‹Nº›</a:t>
            </a:fld>
            <a:endParaRPr lang="es-CL"/>
          </a:p>
        </p:txBody>
      </p:sp>
      <p:pic>
        <p:nvPicPr>
          <p:cNvPr id="7" name="Plantilla presentación IACC 2019 3 2.003.jpeg" descr="Plantilla presentación IACC 2019 3 2.003.jpeg">
            <a:extLst>
              <a:ext uri="{FF2B5EF4-FFF2-40B4-BE49-F238E27FC236}">
                <a16:creationId xmlns:a16="http://schemas.microsoft.com/office/drawing/2014/main" id="{C113694E-BC8D-0C4F-BA34-A037419E5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Imagen" descr="Imagen">
            <a:extLst>
              <a:ext uri="{FF2B5EF4-FFF2-40B4-BE49-F238E27FC236}">
                <a16:creationId xmlns:a16="http://schemas.microsoft.com/office/drawing/2014/main" id="{66AFBEE4-7CB2-E44A-A844-2D26ABD11B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5952" y="246729"/>
            <a:ext cx="854503" cy="5536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73593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15E5949F-2BDA-4324-A69F-0A0A4CBA6883}" type="datetime1">
              <a:rPr lang="en-US"/>
              <a:pPr>
                <a:defRPr/>
              </a:pPr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31833C84-CA9F-4479-9D71-75D163A255E2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4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7DA486D6-5DC1-4E5A-B6A8-AAC2F4AE819A}" type="datetime1">
              <a:rPr lang="en-US"/>
              <a:pPr>
                <a:defRPr/>
              </a:pPr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65519F03-769A-4717-AD74-802A27E95B3E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91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0D3DB970-5683-480B-A0C6-39B5830827D6}" type="datetime1">
              <a:rPr lang="en-US"/>
              <a:pPr>
                <a:defRPr/>
              </a:pPr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CB9F899C-1237-4427-83B6-2FE31BCD6214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688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7A84E12F-6CFB-4E74-90B4-197E1B380AC5}" type="datetime1">
              <a:rPr lang="en-US"/>
              <a:pPr>
                <a:defRPr/>
              </a:pPr>
              <a:t>6/28/2025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B87EEC45-99F6-4F07-95CA-654E7EBCA42E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986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6989503A-DB3D-4607-B165-7F8D742A9ADC}" type="datetime1">
              <a:rPr lang="en-US"/>
              <a:pPr>
                <a:defRPr/>
              </a:pPr>
              <a:t>6/28/2025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950BEAB9-952F-4A87-AB49-A87B046A14C1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58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CC618A2B-6B74-4FE9-8949-98A0706E77D5}" type="datetime1">
              <a:rPr lang="en-US"/>
              <a:pPr>
                <a:defRPr/>
              </a:pPr>
              <a:t>6/28/2025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5AF55981-186F-4540-834B-8D82FEA2640E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793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6AB2CB7A-34AA-4C62-96A3-73B63FADB015}" type="datetime1">
              <a:rPr lang="en-US"/>
              <a:pPr>
                <a:defRPr/>
              </a:pPr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5D0AD1AC-4CFA-47C7-AFFF-93918A58E489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994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_tradnl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0916847E-BC19-44DF-BBB9-A04FF7C9CCFA}" type="datetime1">
              <a:rPr lang="en-US"/>
              <a:pPr>
                <a:defRPr/>
              </a:pPr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C1A5D6E0-DB41-4795-A8C1-EAEE123F57F1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3190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8D60C99D-6967-4F5D-8295-64059093D637}" type="datetime1">
              <a:rPr lang="en-US"/>
              <a:pPr>
                <a:defRPr/>
              </a:pPr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15A2FDB8-2EA2-4FBF-A27D-85403F8C64A9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513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s-ES_tradnl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9601F236-50C6-42F5-94E4-5330CA3A5443}" type="datetime1">
              <a:rPr lang="en-US"/>
              <a:pPr>
                <a:defRPr/>
              </a:pPr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>
              <a:defRPr/>
            </a:pPr>
            <a:fld id="{1C97A2A7-CDB5-4B1F-8981-868D2248483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720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10" descr="logoiacc_black.pn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1" y="4699398"/>
            <a:ext cx="1158875" cy="386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8" r:id="rId2"/>
    <p:sldLayoutId id="2147483749" r:id="rId3"/>
    <p:sldLayoutId id="2147483750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</p:sldLayoutIdLst>
  <p:txStyles>
    <p:titleStyle>
      <a:lvl1pPr algn="ctr" defTabSz="342900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ヒラギノ角ゴ Pro W3" pitchFamily="-65" charset="-128"/>
          <a:cs typeface="+mj-cs"/>
        </a:defRPr>
      </a:lvl1pPr>
      <a:lvl2pPr algn="ctr" defTabSz="342900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ヒラギノ角ゴ Pro W3" pitchFamily="-65" charset="-128"/>
        </a:defRPr>
      </a:lvl2pPr>
      <a:lvl3pPr algn="ctr" defTabSz="342900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ヒラギノ角ゴ Pro W3" pitchFamily="-65" charset="-128"/>
        </a:defRPr>
      </a:lvl3pPr>
      <a:lvl4pPr algn="ctr" defTabSz="342900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ヒラギノ角ゴ Pro W3" pitchFamily="-65" charset="-128"/>
        </a:defRPr>
      </a:lvl4pPr>
      <a:lvl5pPr algn="ctr" defTabSz="342900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ヒラギノ角ゴ Pro W3" pitchFamily="-65" charset="-128"/>
        </a:defRPr>
      </a:lvl5pPr>
      <a:lvl6pPr marL="342900" algn="ctr" defTabSz="3429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ヒラギノ角ゴ Pro W3" pitchFamily="-65" charset="-128"/>
        </a:defRPr>
      </a:lvl6pPr>
      <a:lvl7pPr marL="685800" algn="ctr" defTabSz="3429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ヒラギノ角ゴ Pro W3" pitchFamily="-65" charset="-128"/>
        </a:defRPr>
      </a:lvl7pPr>
      <a:lvl8pPr marL="1028700" algn="ctr" defTabSz="3429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ヒラギノ角ゴ Pro W3" pitchFamily="-65" charset="-128"/>
        </a:defRPr>
      </a:lvl8pPr>
      <a:lvl9pPr marL="1371600" algn="ctr" defTabSz="342900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  <a:ea typeface="ヒラギノ角ゴ Pro W3" pitchFamily="-65" charset="-128"/>
        </a:defRPr>
      </a:lvl9pPr>
    </p:titleStyle>
    <p:bodyStyle>
      <a:lvl1pPr marL="257175" indent="-257175" algn="l" defTabSz="3429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ヒラギノ角ゴ Pro W3" pitchFamily="-65" charset="-128"/>
          <a:cs typeface="+mn-cs"/>
        </a:defRPr>
      </a:lvl1pPr>
      <a:lvl2pPr marL="557213" indent="-214313" algn="l" defTabSz="3429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ヒラギノ角ゴ Pro W3" pitchFamily="-65" charset="-128"/>
          <a:cs typeface="+mn-cs"/>
        </a:defRPr>
      </a:lvl2pPr>
      <a:lvl3pPr marL="857250" indent="-171450" algn="l" defTabSz="3429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ヒラギノ角ゴ Pro W3" pitchFamily="-65" charset="-128"/>
          <a:cs typeface="+mn-cs"/>
        </a:defRPr>
      </a:lvl3pPr>
      <a:lvl4pPr marL="1200150" indent="-171450" algn="l" defTabSz="3429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ヒラギノ角ゴ Pro W3" pitchFamily="-65" charset="-128"/>
          <a:cs typeface="+mn-cs"/>
        </a:defRPr>
      </a:lvl4pPr>
      <a:lvl5pPr marL="1543050" indent="-171450" algn="l" defTabSz="3429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ヒラギノ角ゴ Pro W3" pitchFamily="-65" charset="-128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56102" y="624999"/>
            <a:ext cx="5052002" cy="794623"/>
          </a:xfrm>
        </p:spPr>
        <p:txBody>
          <a:bodyPr>
            <a:noAutofit/>
          </a:bodyPr>
          <a:lstStyle/>
          <a:p>
            <a:pPr marL="0" indent="0">
              <a:lnSpc>
                <a:spcPts val="1260"/>
              </a:lnSpc>
              <a:spcBef>
                <a:spcPts val="0"/>
              </a:spcBef>
              <a:buNone/>
              <a:defRPr/>
            </a:pPr>
            <a:r>
              <a:rPr lang="es-CL" sz="900" dirty="0">
                <a:solidFill>
                  <a:schemeClr val="bg1"/>
                </a:solidFill>
                <a:latin typeface="DIN" pitchFamily="2" charset="0"/>
              </a:rPr>
              <a:t>Exposición y defensa para optar al título de: Ingeniería en Informático</a:t>
            </a:r>
          </a:p>
          <a:p>
            <a:pPr marL="0" indent="0">
              <a:lnSpc>
                <a:spcPts val="1260"/>
              </a:lnSpc>
              <a:spcBef>
                <a:spcPts val="0"/>
              </a:spcBef>
              <a:buNone/>
              <a:defRPr/>
            </a:pPr>
            <a:r>
              <a:rPr lang="es-CL" sz="900" dirty="0">
                <a:solidFill>
                  <a:schemeClr val="bg1"/>
                </a:solidFill>
                <a:latin typeface="DIN" pitchFamily="2" charset="0"/>
              </a:rPr>
              <a:t>Nombre de la carrera: Continuidad Ingeniería en Informática</a:t>
            </a:r>
          </a:p>
          <a:p>
            <a:pPr marL="0" indent="0">
              <a:lnSpc>
                <a:spcPts val="1260"/>
              </a:lnSpc>
              <a:spcBef>
                <a:spcPts val="0"/>
              </a:spcBef>
              <a:buNone/>
              <a:defRPr/>
            </a:pPr>
            <a:r>
              <a:rPr lang="es-CL" sz="900" dirty="0">
                <a:solidFill>
                  <a:schemeClr val="bg1"/>
                </a:solidFill>
                <a:latin typeface="DIN" pitchFamily="2" charset="0"/>
              </a:rPr>
              <a:t>Nombre del alumno: Juan Arturo Rochat Sandoval</a:t>
            </a:r>
          </a:p>
          <a:p>
            <a:pPr marL="0" indent="0">
              <a:lnSpc>
                <a:spcPts val="1260"/>
              </a:lnSpc>
              <a:spcBef>
                <a:spcPts val="0"/>
              </a:spcBef>
              <a:buNone/>
              <a:defRPr/>
            </a:pPr>
            <a:r>
              <a:rPr lang="es-CL" sz="900" dirty="0">
                <a:solidFill>
                  <a:schemeClr val="bg1"/>
                </a:solidFill>
                <a:latin typeface="DIN" pitchFamily="2" charset="0"/>
              </a:rPr>
              <a:t>Fecha: 28,06,2025</a:t>
            </a:r>
          </a:p>
          <a:p>
            <a:pPr marL="0" indent="0">
              <a:lnSpc>
                <a:spcPts val="1260"/>
              </a:lnSpc>
              <a:spcBef>
                <a:spcPts val="0"/>
              </a:spcBef>
              <a:buNone/>
              <a:defRPr/>
            </a:pPr>
            <a:endParaRPr lang="es-CL" sz="1050" dirty="0">
              <a:solidFill>
                <a:schemeClr val="bg1"/>
              </a:solidFill>
              <a:latin typeface="DIN" pitchFamily="2" charset="0"/>
            </a:endParaRPr>
          </a:p>
        </p:txBody>
      </p:sp>
      <p:sp>
        <p:nvSpPr>
          <p:cNvPr id="4" name="Título de  presentación">
            <a:extLst>
              <a:ext uri="{FF2B5EF4-FFF2-40B4-BE49-F238E27FC236}">
                <a16:creationId xmlns:a16="http://schemas.microsoft.com/office/drawing/2014/main" id="{907DF369-B2C9-C340-9149-689B89387734}"/>
              </a:ext>
            </a:extLst>
          </p:cNvPr>
          <p:cNvSpPr txBox="1">
            <a:spLocks/>
          </p:cNvSpPr>
          <p:nvPr/>
        </p:nvSpPr>
        <p:spPr>
          <a:xfrm>
            <a:off x="456102" y="326475"/>
            <a:ext cx="6348146" cy="517083"/>
          </a:xfrm>
          <a:prstGeom prst="rect">
            <a:avLst/>
          </a:prstGeom>
        </p:spPr>
        <p:txBody>
          <a:bodyPr anchor="t"/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l">
              <a:lnSpc>
                <a:spcPct val="80000"/>
              </a:lnSpc>
              <a:defRPr sz="6000" spc="300"/>
            </a:pPr>
            <a:r>
              <a:rPr lang="es-CL" sz="2250" spc="113" dirty="0">
                <a:solidFill>
                  <a:schemeClr val="bg1"/>
                </a:solidFill>
                <a:latin typeface="Saira" pitchFamily="2" charset="77"/>
              </a:rPr>
              <a:t>TÍTULO DE LA INVESTIGACIÓN</a:t>
            </a:r>
          </a:p>
        </p:txBody>
      </p:sp>
      <p:pic>
        <p:nvPicPr>
          <p:cNvPr id="5" name="Imagen" descr="Imagen">
            <a:extLst>
              <a:ext uri="{FF2B5EF4-FFF2-40B4-BE49-F238E27FC236}">
                <a16:creationId xmlns:a16="http://schemas.microsoft.com/office/drawing/2014/main" id="{E6C34D7B-9EEC-AC48-910D-799717237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95" y="445700"/>
            <a:ext cx="84529" cy="169074"/>
          </a:xfrm>
          <a:prstGeom prst="rect">
            <a:avLst/>
          </a:prstGeom>
          <a:ln w="12700">
            <a:miter lim="400000"/>
          </a:ln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ubtítulo"/>
          <p:cNvSpPr>
            <a:spLocks noGrp="1"/>
          </p:cNvSpPr>
          <p:nvPr>
            <p:ph type="subTitle" idx="4294967295"/>
          </p:nvPr>
        </p:nvSpPr>
        <p:spPr>
          <a:xfrm>
            <a:off x="1185356" y="1131590"/>
            <a:ext cx="4511551" cy="8001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defRPr/>
            </a:pPr>
            <a:r>
              <a:rPr lang="es-ES" sz="1600" dirty="0"/>
              <a:t>El problema central identificado es el uso creciente del Web Scraping en el sector </a:t>
            </a:r>
            <a:r>
              <a:rPr lang="es-ES" sz="1600" dirty="0" err="1"/>
              <a:t>retail</a:t>
            </a:r>
            <a:r>
              <a:rPr lang="es-ES" sz="1600" dirty="0"/>
              <a:t> latinoamericano, particularmente en empresas chilenas, sin un marco ético y legal claro, generando vulnerabilidades técnicas y riesgos significativos para la seguridad informática y la privacidad de los datos personales de los usuarios.</a:t>
            </a:r>
            <a:endParaRPr lang="es-CL" sz="1500" dirty="0">
              <a:latin typeface="DIN" pitchFamily="2" charset="0"/>
            </a:endParaRPr>
          </a:p>
        </p:txBody>
      </p:sp>
      <p:sp>
        <p:nvSpPr>
          <p:cNvPr id="5" name="Índice de temas">
            <a:extLst>
              <a:ext uri="{FF2B5EF4-FFF2-40B4-BE49-F238E27FC236}">
                <a16:creationId xmlns:a16="http://schemas.microsoft.com/office/drawing/2014/main" id="{4A0B98FA-965A-6F44-921B-8B2C999B7FAF}"/>
              </a:ext>
            </a:extLst>
          </p:cNvPr>
          <p:cNvSpPr txBox="1">
            <a:spLocks/>
          </p:cNvSpPr>
          <p:nvPr/>
        </p:nvSpPr>
        <p:spPr>
          <a:xfrm>
            <a:off x="1185356" y="280807"/>
            <a:ext cx="5400927" cy="443042"/>
          </a:xfrm>
          <a:prstGeom prst="rect">
            <a:avLst/>
          </a:prstGeom>
        </p:spPr>
        <p:txBody>
          <a:bodyPr anchor="t"/>
          <a:lstStyle>
            <a:lvl1pPr marL="0" marR="0" indent="0" algn="l" defTabSz="821531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300" baseline="0">
                <a:ln>
                  <a:noFill/>
                </a:ln>
                <a:solidFill>
                  <a:srgbClr val="343336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s-CL" sz="1800" dirty="0">
                <a:latin typeface="Saira" pitchFamily="2" charset="77"/>
              </a:rPr>
              <a:t>Planteamiento del problema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ubtítulo"/>
          <p:cNvSpPr>
            <a:spLocks noGrp="1"/>
          </p:cNvSpPr>
          <p:nvPr>
            <p:ph type="subTitle" idx="4294967295"/>
          </p:nvPr>
        </p:nvSpPr>
        <p:spPr>
          <a:xfrm>
            <a:off x="1259632" y="771550"/>
            <a:ext cx="5724525" cy="216024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/>
            </a:pPr>
            <a:r>
              <a:rPr lang="es-CL" sz="1500" b="1" dirty="0">
                <a:latin typeface="DIN" pitchFamily="2" charset="0"/>
              </a:rPr>
              <a:t>Objetivo general:</a:t>
            </a:r>
          </a:p>
          <a:p>
            <a:pPr>
              <a:defRPr/>
            </a:pPr>
            <a:r>
              <a:rPr lang="es-CL" sz="1500" dirty="0">
                <a:latin typeface="DIN" pitchFamily="2" charset="0"/>
              </a:rPr>
              <a:t>Objetivos específicos:</a:t>
            </a:r>
            <a:r>
              <a:rPr lang="es-ES" sz="1400" dirty="0"/>
              <a:t>Desarrollar y validar una solución tecnológica ética, técnica y legalmente adecuada para realizar Web Scraping de forma segura y responsable en empresas del </a:t>
            </a:r>
            <a:r>
              <a:rPr lang="es-ES" sz="1400" dirty="0" err="1"/>
              <a:t>retail</a:t>
            </a:r>
            <a:r>
              <a:rPr lang="es-ES" sz="1400" dirty="0"/>
              <a:t> latinoamericano.</a:t>
            </a:r>
            <a:endParaRPr lang="es-CL" sz="1400" dirty="0">
              <a:latin typeface="DIN" pitchFamily="2" charset="0"/>
            </a:endParaRPr>
          </a:p>
          <a:p>
            <a:pPr>
              <a:defRPr/>
            </a:pPr>
            <a:endParaRPr lang="es-CL" sz="1500" dirty="0">
              <a:latin typeface="DIN" pitchFamily="2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  <a:defRPr/>
            </a:pPr>
            <a:r>
              <a:rPr lang="es-CL" sz="1500" b="1" dirty="0">
                <a:latin typeface="DIN" pitchFamily="2" charset="0"/>
              </a:rPr>
              <a:t>Objetivo específico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s-ES" sz="1500" dirty="0">
                <a:latin typeface="DIN" pitchFamily="2" charset="0"/>
              </a:rPr>
              <a:t>Identificar los marcos normativos aplicables al Web Scraping en Latinoamérica.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s-ES" sz="1500" dirty="0">
                <a:latin typeface="DIN" pitchFamily="2" charset="0"/>
              </a:rPr>
              <a:t>Analizar las implicaciones técnicas y éticas del Web Scraping en plataformas comerciales. 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s-ES" sz="1500" dirty="0">
                <a:latin typeface="DIN" pitchFamily="2" charset="0"/>
              </a:rPr>
              <a:t>Diseñar e implementar una solución tecnológica integral acorde a estándares internacionales de seguridad informática.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s-ES" sz="1500" dirty="0">
                <a:latin typeface="DIN" pitchFamily="2" charset="0"/>
              </a:rPr>
              <a:t>Evaluar mediante pruebas rigurosas la eficacia técnica y normativa de la solución propuesta. </a:t>
            </a:r>
            <a:endParaRPr lang="es-CL" sz="1500" dirty="0">
              <a:latin typeface="DIN" pitchFamily="2" charset="0"/>
            </a:endParaRPr>
          </a:p>
        </p:txBody>
      </p:sp>
      <p:sp>
        <p:nvSpPr>
          <p:cNvPr id="5" name="Índice de temas">
            <a:extLst>
              <a:ext uri="{FF2B5EF4-FFF2-40B4-BE49-F238E27FC236}">
                <a16:creationId xmlns:a16="http://schemas.microsoft.com/office/drawing/2014/main" id="{014BA22E-511D-184E-B2B6-F1D16751EB3D}"/>
              </a:ext>
            </a:extLst>
          </p:cNvPr>
          <p:cNvSpPr txBox="1">
            <a:spLocks/>
          </p:cNvSpPr>
          <p:nvPr/>
        </p:nvSpPr>
        <p:spPr>
          <a:xfrm>
            <a:off x="1185356" y="280807"/>
            <a:ext cx="5400927" cy="443042"/>
          </a:xfrm>
          <a:prstGeom prst="rect">
            <a:avLst/>
          </a:prstGeom>
        </p:spPr>
        <p:txBody>
          <a:bodyPr anchor="t"/>
          <a:lstStyle>
            <a:lvl1pPr marL="0" marR="0" indent="0" algn="l" defTabSz="821531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300" baseline="0">
                <a:ln>
                  <a:noFill/>
                </a:ln>
                <a:solidFill>
                  <a:srgbClr val="343336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s-CL" sz="1800" dirty="0">
                <a:latin typeface="Saira" pitchFamily="2" charset="77"/>
              </a:rPr>
              <a:t>Objetivos de la investigación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ubtítulo"/>
          <p:cNvSpPr>
            <a:spLocks noGrp="1"/>
          </p:cNvSpPr>
          <p:nvPr>
            <p:ph type="subTitle" idx="4294967295"/>
          </p:nvPr>
        </p:nvSpPr>
        <p:spPr>
          <a:xfrm>
            <a:off x="1185356" y="1654175"/>
            <a:ext cx="5724525" cy="557535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defRPr/>
            </a:pPr>
            <a:r>
              <a:rPr lang="es-ES" sz="1500" dirty="0">
                <a:latin typeface="DIN" pitchFamily="2" charset="0"/>
              </a:rPr>
              <a:t>Esta investigación es relevante debido al rápido crecimiento del uso del Web Scraping en la industria </a:t>
            </a:r>
            <a:r>
              <a:rPr lang="es-ES" sz="1500" dirty="0" err="1">
                <a:latin typeface="DIN" pitchFamily="2" charset="0"/>
              </a:rPr>
              <a:t>retail</a:t>
            </a:r>
            <a:r>
              <a:rPr lang="es-ES" sz="1500" dirty="0">
                <a:latin typeface="DIN" pitchFamily="2" charset="0"/>
              </a:rPr>
              <a:t>, que genera riesgos éticos, técnicos y legales significativos. Los resultados permitirán reducir riesgos informáticos, mejorar la protección de datos personales y promover una gestión ética y legalmente responsable de tecnologías avanzadas. </a:t>
            </a:r>
            <a:endParaRPr lang="es-CL" sz="1500" dirty="0">
              <a:latin typeface="DIN" pitchFamily="2" charset="0"/>
            </a:endParaRPr>
          </a:p>
        </p:txBody>
      </p:sp>
      <p:sp>
        <p:nvSpPr>
          <p:cNvPr id="5" name="Índice de temas">
            <a:extLst>
              <a:ext uri="{FF2B5EF4-FFF2-40B4-BE49-F238E27FC236}">
                <a16:creationId xmlns:a16="http://schemas.microsoft.com/office/drawing/2014/main" id="{6A7F4F10-D9F7-D747-AEC4-55161212BD95}"/>
              </a:ext>
            </a:extLst>
          </p:cNvPr>
          <p:cNvSpPr txBox="1">
            <a:spLocks/>
          </p:cNvSpPr>
          <p:nvPr/>
        </p:nvSpPr>
        <p:spPr>
          <a:xfrm>
            <a:off x="1185356" y="280807"/>
            <a:ext cx="5400927" cy="443042"/>
          </a:xfrm>
          <a:prstGeom prst="rect">
            <a:avLst/>
          </a:prstGeom>
        </p:spPr>
        <p:txBody>
          <a:bodyPr anchor="t"/>
          <a:lstStyle>
            <a:lvl1pPr marL="0" marR="0" indent="0" algn="l" defTabSz="821531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300" baseline="0">
                <a:ln>
                  <a:noFill/>
                </a:ln>
                <a:solidFill>
                  <a:srgbClr val="343336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s-CL" sz="1800" dirty="0">
                <a:latin typeface="Saira" pitchFamily="2" charset="77"/>
              </a:rPr>
              <a:t>Hipótesis de la investigación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1433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ubtítulo"/>
          <p:cNvSpPr>
            <a:spLocks noGrp="1"/>
          </p:cNvSpPr>
          <p:nvPr>
            <p:ph type="subTitle" idx="4294967295"/>
          </p:nvPr>
        </p:nvSpPr>
        <p:spPr>
          <a:xfrm>
            <a:off x="1185356" y="1384301"/>
            <a:ext cx="4846638" cy="1043434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/>
            </a:pPr>
            <a:r>
              <a:rPr lang="es-ES" sz="1500" dirty="0">
                <a:latin typeface="DIN" pitchFamily="2" charset="0"/>
              </a:rPr>
              <a:t>Ciberseguridad y protección de infraestructura crítica (BID, 2020). </a:t>
            </a:r>
          </a:p>
          <a:p>
            <a:pPr>
              <a:defRPr/>
            </a:pPr>
            <a:r>
              <a:rPr lang="es-ES" sz="1500" dirty="0">
                <a:latin typeface="DIN" pitchFamily="2" charset="0"/>
              </a:rPr>
              <a:t>Ley 21.663 sobre Ciberseguridad (Chile, 2024). </a:t>
            </a:r>
          </a:p>
          <a:p>
            <a:pPr>
              <a:defRPr/>
            </a:pPr>
            <a:r>
              <a:rPr lang="es-ES" sz="1500" dirty="0">
                <a:latin typeface="DIN" pitchFamily="2" charset="0"/>
              </a:rPr>
              <a:t>Ley 21.719 Protección de Datos Personales (Chile, 2024). </a:t>
            </a:r>
          </a:p>
          <a:p>
            <a:pPr>
              <a:defRPr/>
            </a:pPr>
            <a:r>
              <a:rPr lang="es-ES" sz="1500" dirty="0">
                <a:latin typeface="DIN" pitchFamily="2" charset="0"/>
              </a:rPr>
              <a:t>Reglamento General de Protección de Datos – GDPR (UE, 2018). </a:t>
            </a:r>
          </a:p>
          <a:p>
            <a:pPr>
              <a:defRPr/>
            </a:pPr>
            <a:r>
              <a:rPr lang="es-ES" sz="1500" dirty="0">
                <a:latin typeface="DIN" pitchFamily="2" charset="0"/>
              </a:rPr>
              <a:t>Técnicas avanzadas de Web Scraping (</a:t>
            </a:r>
            <a:r>
              <a:rPr lang="es-ES" sz="1500" dirty="0" err="1">
                <a:latin typeface="DIN" pitchFamily="2" charset="0"/>
              </a:rPr>
              <a:t>Selenium</a:t>
            </a:r>
            <a:r>
              <a:rPr lang="es-ES" sz="1500" dirty="0">
                <a:latin typeface="DIN" pitchFamily="2" charset="0"/>
              </a:rPr>
              <a:t>, </a:t>
            </a:r>
            <a:r>
              <a:rPr lang="es-ES" sz="1500" dirty="0" err="1">
                <a:latin typeface="DIN" pitchFamily="2" charset="0"/>
              </a:rPr>
              <a:t>Puppeteer</a:t>
            </a:r>
            <a:r>
              <a:rPr lang="es-ES" sz="1500" dirty="0">
                <a:latin typeface="DIN" pitchFamily="2" charset="0"/>
              </a:rPr>
              <a:t>, </a:t>
            </a:r>
            <a:r>
              <a:rPr lang="es-ES" sz="1500" dirty="0" err="1">
                <a:latin typeface="DIN" pitchFamily="2" charset="0"/>
              </a:rPr>
              <a:t>BeautifulSoup</a:t>
            </a:r>
            <a:r>
              <a:rPr lang="es-ES" sz="1500" dirty="0">
                <a:latin typeface="DIN" pitchFamily="2" charset="0"/>
              </a:rPr>
              <a:t>). </a:t>
            </a:r>
            <a:endParaRPr lang="es-CL" sz="1500" dirty="0">
              <a:latin typeface="DIN" pitchFamily="2" charset="0"/>
            </a:endParaRPr>
          </a:p>
        </p:txBody>
      </p:sp>
      <p:sp>
        <p:nvSpPr>
          <p:cNvPr id="5" name="Índice de temas">
            <a:extLst>
              <a:ext uri="{FF2B5EF4-FFF2-40B4-BE49-F238E27FC236}">
                <a16:creationId xmlns:a16="http://schemas.microsoft.com/office/drawing/2014/main" id="{B4FDAAE9-9527-D149-9C32-E2362608CC38}"/>
              </a:ext>
            </a:extLst>
          </p:cNvPr>
          <p:cNvSpPr txBox="1">
            <a:spLocks/>
          </p:cNvSpPr>
          <p:nvPr/>
        </p:nvSpPr>
        <p:spPr>
          <a:xfrm>
            <a:off x="1185356" y="280807"/>
            <a:ext cx="5400927" cy="443042"/>
          </a:xfrm>
          <a:prstGeom prst="rect">
            <a:avLst/>
          </a:prstGeom>
        </p:spPr>
        <p:txBody>
          <a:bodyPr anchor="t"/>
          <a:lstStyle>
            <a:lvl1pPr marL="0" marR="0" indent="0" algn="l" defTabSz="821531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300" baseline="0">
                <a:ln>
                  <a:noFill/>
                </a:ln>
                <a:solidFill>
                  <a:srgbClr val="343336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s-CL" sz="1800" dirty="0">
                <a:latin typeface="Saira" pitchFamily="2" charset="77"/>
              </a:rPr>
              <a:t>Marco teórico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ubtítulo"/>
          <p:cNvSpPr>
            <a:spLocks noGrp="1"/>
          </p:cNvSpPr>
          <p:nvPr>
            <p:ph type="subTitle" idx="4294967295"/>
          </p:nvPr>
        </p:nvSpPr>
        <p:spPr>
          <a:xfrm>
            <a:off x="1185356" y="1384301"/>
            <a:ext cx="4846638" cy="827410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>
              <a:defRPr/>
            </a:pPr>
            <a:r>
              <a:rPr lang="es-ES" sz="1500" dirty="0">
                <a:latin typeface="DIN" pitchFamily="2" charset="0"/>
              </a:rPr>
              <a:t>La metodología usada fue mixta (cualitativa y cuantitativa). Se aplicaron análisis documental y encuestas electrónicas mediante Google </a:t>
            </a:r>
            <a:r>
              <a:rPr lang="es-ES" sz="1500" dirty="0" err="1">
                <a:latin typeface="DIN" pitchFamily="2" charset="0"/>
              </a:rPr>
              <a:t>Forms</a:t>
            </a:r>
            <a:r>
              <a:rPr lang="es-ES" sz="1500" dirty="0">
                <a:latin typeface="DIN" pitchFamily="2" charset="0"/>
              </a:rPr>
              <a:t>. Se seleccionaron estas técnicas por su eficacia para obtener datos empíricos y normativos relevantes. </a:t>
            </a:r>
            <a:endParaRPr lang="es-CL" sz="1500" dirty="0">
              <a:latin typeface="DIN" pitchFamily="2" charset="0"/>
            </a:endParaRPr>
          </a:p>
        </p:txBody>
      </p:sp>
      <p:sp>
        <p:nvSpPr>
          <p:cNvPr id="5" name="Índice de temas">
            <a:extLst>
              <a:ext uri="{FF2B5EF4-FFF2-40B4-BE49-F238E27FC236}">
                <a16:creationId xmlns:a16="http://schemas.microsoft.com/office/drawing/2014/main" id="{AA9D39D2-7BC4-B540-B4C9-3DD33C71470D}"/>
              </a:ext>
            </a:extLst>
          </p:cNvPr>
          <p:cNvSpPr txBox="1">
            <a:spLocks/>
          </p:cNvSpPr>
          <p:nvPr/>
        </p:nvSpPr>
        <p:spPr>
          <a:xfrm>
            <a:off x="1185356" y="280807"/>
            <a:ext cx="5400927" cy="443042"/>
          </a:xfrm>
          <a:prstGeom prst="rect">
            <a:avLst/>
          </a:prstGeom>
        </p:spPr>
        <p:txBody>
          <a:bodyPr anchor="t"/>
          <a:lstStyle>
            <a:lvl1pPr marL="0" marR="0" indent="0" algn="l" defTabSz="821531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300" baseline="0">
                <a:ln>
                  <a:noFill/>
                </a:ln>
                <a:solidFill>
                  <a:srgbClr val="343336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s-CL" sz="1800" dirty="0">
                <a:latin typeface="Saira" pitchFamily="2" charset="77"/>
              </a:rPr>
              <a:t>Marco metodológico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6059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ubtítulo"/>
          <p:cNvSpPr>
            <a:spLocks noGrp="1"/>
          </p:cNvSpPr>
          <p:nvPr>
            <p:ph type="subTitle" idx="4294967295"/>
          </p:nvPr>
        </p:nvSpPr>
        <p:spPr>
          <a:xfrm>
            <a:off x="1185356" y="1384301"/>
            <a:ext cx="4846638" cy="1763514"/>
          </a:xfrm>
          <a:prstGeom prst="rect">
            <a:avLst/>
          </a:prstGeom>
        </p:spPr>
        <p:txBody>
          <a:bodyPr>
            <a:noAutofit/>
          </a:bodyPr>
          <a:lstStyle/>
          <a:p>
            <a:pPr algn="just"/>
            <a:r>
              <a:rPr lang="es-ES" sz="1400" b="1" dirty="0"/>
              <a:t>Aplicada y descriptiva-analítica</a:t>
            </a:r>
            <a:endParaRPr lang="es-ES" sz="1400" dirty="0"/>
          </a:p>
          <a:p>
            <a:pPr algn="just"/>
            <a:r>
              <a:rPr lang="es-ES" sz="1400" b="1" dirty="0"/>
              <a:t>Aplicada:</a:t>
            </a:r>
            <a:r>
              <a:rPr lang="es-ES" sz="1400" dirty="0"/>
              <a:t> Busca generar conocimientos prácticos y soluciones concretas en el ámbito profesional de la Ingeniería Informática, especialmente orientadas hacia la regulación ética y legal del web </a:t>
            </a:r>
            <a:r>
              <a:rPr lang="es-ES" sz="1400" dirty="0" err="1"/>
              <a:t>scraping</a:t>
            </a:r>
            <a:r>
              <a:rPr lang="es-ES" sz="1400" dirty="0"/>
              <a:t> en contextos empresariales del sector </a:t>
            </a:r>
            <a:r>
              <a:rPr lang="es-ES" sz="1400" dirty="0" err="1"/>
              <a:t>retail</a:t>
            </a:r>
            <a:r>
              <a:rPr lang="es-ES" sz="1400" dirty="0"/>
              <a:t>.</a:t>
            </a:r>
          </a:p>
          <a:p>
            <a:pPr algn="just"/>
            <a:r>
              <a:rPr lang="es-ES" sz="1400" b="1" dirty="0"/>
              <a:t>Descriptiva-analítica:</a:t>
            </a:r>
            <a:r>
              <a:rPr lang="es-ES" sz="1400" dirty="0"/>
              <a:t> Detalla la situación actual del web </a:t>
            </a:r>
            <a:r>
              <a:rPr lang="es-ES" sz="1400" dirty="0" err="1"/>
              <a:t>scraping</a:t>
            </a:r>
            <a:r>
              <a:rPr lang="es-ES" sz="1400" dirty="0"/>
              <a:t>, sus consecuencias éticas y legales, así como el impacto técnico y económico en las organizaciones involucradas.</a:t>
            </a:r>
          </a:p>
        </p:txBody>
      </p:sp>
      <p:sp>
        <p:nvSpPr>
          <p:cNvPr id="5" name="Índice de temas">
            <a:extLst>
              <a:ext uri="{FF2B5EF4-FFF2-40B4-BE49-F238E27FC236}">
                <a16:creationId xmlns:a16="http://schemas.microsoft.com/office/drawing/2014/main" id="{8B4D3A7B-4FC3-B84C-A950-20973ABA069F}"/>
              </a:ext>
            </a:extLst>
          </p:cNvPr>
          <p:cNvSpPr txBox="1">
            <a:spLocks/>
          </p:cNvSpPr>
          <p:nvPr/>
        </p:nvSpPr>
        <p:spPr>
          <a:xfrm>
            <a:off x="1185356" y="280807"/>
            <a:ext cx="5400927" cy="443042"/>
          </a:xfrm>
          <a:prstGeom prst="rect">
            <a:avLst/>
          </a:prstGeom>
        </p:spPr>
        <p:txBody>
          <a:bodyPr anchor="t"/>
          <a:lstStyle>
            <a:lvl1pPr marL="0" marR="0" indent="0" algn="l" defTabSz="821531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300" baseline="0">
                <a:ln>
                  <a:noFill/>
                </a:ln>
                <a:solidFill>
                  <a:srgbClr val="343336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s-CL" sz="1800" dirty="0">
                <a:latin typeface="Saira" pitchFamily="2" charset="77"/>
              </a:rPr>
              <a:t>Técnica de investigación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688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ubtítulo"/>
          <p:cNvSpPr>
            <a:spLocks noGrp="1"/>
          </p:cNvSpPr>
          <p:nvPr>
            <p:ph type="subTitle" idx="4294967295"/>
          </p:nvPr>
        </p:nvSpPr>
        <p:spPr>
          <a:xfrm>
            <a:off x="1214232" y="721560"/>
            <a:ext cx="4846638" cy="1763514"/>
          </a:xfrm>
          <a:prstGeom prst="rect">
            <a:avLst/>
          </a:prstGeom>
        </p:spPr>
        <p:txBody>
          <a:bodyPr>
            <a:noAutofit/>
          </a:bodyPr>
          <a:lstStyle/>
          <a:p>
            <a:pPr lvl="0">
              <a:lnSpc>
                <a:spcPct val="115000"/>
              </a:lnSpc>
            </a:pPr>
            <a:r>
              <a:rPr lang="es-ES" sz="1350" dirty="0">
                <a:latin typeface="DIN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Coloque aquí los siguientes puntos:</a:t>
            </a:r>
          </a:p>
          <a:p>
            <a:pPr marL="257175" indent="-257175">
              <a:lnSpc>
                <a:spcPct val="115000"/>
              </a:lnSpc>
              <a:buFont typeface="Courier New" panose="02070309020205020404" pitchFamily="49" charset="0"/>
              <a:buChar char="o"/>
            </a:pPr>
            <a:endParaRPr lang="es-ES" sz="1350" dirty="0">
              <a:latin typeface="DIN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ES" sz="1350" dirty="0">
                <a:latin typeface="DIN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Homogeneización de datos.</a:t>
            </a:r>
            <a:endParaRPr lang="es-CL" sz="1350" dirty="0">
              <a:latin typeface="DIN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57175" indent="-257175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s-ES" sz="1350" dirty="0">
                <a:latin typeface="DIN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Pruebas estadísticas. </a:t>
            </a:r>
          </a:p>
          <a:p>
            <a:pPr marL="257175" indent="-257175">
              <a:lnSpc>
                <a:spcPct val="115000"/>
              </a:lnSpc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s-ES" sz="1350" dirty="0">
                <a:latin typeface="DIN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Representación gráfica.</a:t>
            </a:r>
            <a:endParaRPr lang="es-CL" sz="1500" dirty="0">
              <a:latin typeface="DIN" pitchFamily="2" charset="0"/>
            </a:endParaRPr>
          </a:p>
        </p:txBody>
      </p:sp>
      <p:sp>
        <p:nvSpPr>
          <p:cNvPr id="5" name="Índice de temas">
            <a:extLst>
              <a:ext uri="{FF2B5EF4-FFF2-40B4-BE49-F238E27FC236}">
                <a16:creationId xmlns:a16="http://schemas.microsoft.com/office/drawing/2014/main" id="{ABC1F9B3-8B84-184E-BAAE-6C316FA93815}"/>
              </a:ext>
            </a:extLst>
          </p:cNvPr>
          <p:cNvSpPr txBox="1">
            <a:spLocks/>
          </p:cNvSpPr>
          <p:nvPr/>
        </p:nvSpPr>
        <p:spPr>
          <a:xfrm>
            <a:off x="1185356" y="280807"/>
            <a:ext cx="5400927" cy="443042"/>
          </a:xfrm>
          <a:prstGeom prst="rect">
            <a:avLst/>
          </a:prstGeom>
        </p:spPr>
        <p:txBody>
          <a:bodyPr anchor="t"/>
          <a:lstStyle>
            <a:lvl1pPr marL="0" marR="0" indent="0" algn="l" defTabSz="821531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300" baseline="0">
                <a:ln>
                  <a:noFill/>
                </a:ln>
                <a:solidFill>
                  <a:srgbClr val="343336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s-CL" sz="1800" dirty="0">
                <a:latin typeface="Saira" pitchFamily="2" charset="77"/>
              </a:rPr>
              <a:t>Análisis de datos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8443DC-FF75-1944-D221-E7361A21B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241759"/>
            <a:ext cx="5307598" cy="26209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52941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ubtítulo"/>
          <p:cNvSpPr>
            <a:spLocks noGrp="1"/>
          </p:cNvSpPr>
          <p:nvPr>
            <p:ph type="subTitle" idx="4294967295"/>
          </p:nvPr>
        </p:nvSpPr>
        <p:spPr>
          <a:xfrm>
            <a:off x="1185357" y="1384300"/>
            <a:ext cx="4846638" cy="133146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/>
            </a:pPr>
            <a:r>
              <a:rPr lang="es-CL" sz="1500" dirty="0">
                <a:latin typeface="DIN" pitchFamily="2" charset="0"/>
              </a:rPr>
              <a:t>DIAGRAMA DE FLUJO: </a:t>
            </a:r>
          </a:p>
          <a:p>
            <a:pPr marL="0" indent="0">
              <a:buNone/>
              <a:defRPr/>
            </a:pPr>
            <a:endParaRPr lang="es-CL" sz="1500" dirty="0">
              <a:latin typeface="DIN" pitchFamily="2" charset="0"/>
            </a:endParaRPr>
          </a:p>
          <a:p>
            <a:pPr>
              <a:defRPr/>
            </a:pPr>
            <a:r>
              <a:rPr lang="es-CL" sz="1500" dirty="0">
                <a:latin typeface="DIN" pitchFamily="2" charset="0"/>
              </a:rPr>
              <a:t>ARQUITECTURA DE SISTEMA: </a:t>
            </a:r>
          </a:p>
          <a:p>
            <a:pPr>
              <a:defRPr/>
            </a:pPr>
            <a:endParaRPr lang="es-CL" sz="1500" dirty="0">
              <a:latin typeface="DIN" pitchFamily="2" charset="0"/>
            </a:endParaRPr>
          </a:p>
        </p:txBody>
      </p:sp>
      <p:sp>
        <p:nvSpPr>
          <p:cNvPr id="5" name="Índice de temas">
            <a:extLst>
              <a:ext uri="{FF2B5EF4-FFF2-40B4-BE49-F238E27FC236}">
                <a16:creationId xmlns:a16="http://schemas.microsoft.com/office/drawing/2014/main" id="{7EC15E0C-808D-1D4D-A9F0-42D40F1BB975}"/>
              </a:ext>
            </a:extLst>
          </p:cNvPr>
          <p:cNvSpPr txBox="1">
            <a:spLocks/>
          </p:cNvSpPr>
          <p:nvPr/>
        </p:nvSpPr>
        <p:spPr>
          <a:xfrm>
            <a:off x="1185357" y="280806"/>
            <a:ext cx="4322748" cy="562751"/>
          </a:xfrm>
          <a:prstGeom prst="rect">
            <a:avLst/>
          </a:prstGeom>
        </p:spPr>
        <p:txBody>
          <a:bodyPr anchor="t"/>
          <a:lstStyle>
            <a:lvl1pPr marL="0" marR="0" indent="0" algn="l" defTabSz="821531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300" baseline="0">
                <a:ln>
                  <a:noFill/>
                </a:ln>
                <a:solidFill>
                  <a:srgbClr val="343336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s-CL" sz="1800" dirty="0">
                <a:latin typeface="Saira" pitchFamily="2" charset="77"/>
              </a:rPr>
              <a:t>Propuesta e implementación del sistema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A5CD7C0-66F6-DC5B-76C2-0C19D05CF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483518"/>
            <a:ext cx="2325473" cy="356535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E0F11CF-93C3-CDAB-2498-93673A3F6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2251847"/>
            <a:ext cx="4688660" cy="259228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3593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ubtítulo"/>
          <p:cNvSpPr>
            <a:spLocks noGrp="1"/>
          </p:cNvSpPr>
          <p:nvPr>
            <p:ph type="subTitle" idx="4294967295"/>
          </p:nvPr>
        </p:nvSpPr>
        <p:spPr>
          <a:xfrm>
            <a:off x="1331640" y="627534"/>
            <a:ext cx="4846638" cy="169440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  <a:defRPr/>
            </a:pPr>
            <a:endParaRPr lang="es-CL" sz="1500" dirty="0">
              <a:latin typeface="DIN" pitchFamily="2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  <a:defRPr/>
            </a:pPr>
            <a:r>
              <a:rPr lang="es-ES" sz="1500" dirty="0">
                <a:latin typeface="DIN" pitchFamily="2" charset="0"/>
              </a:rPr>
              <a:t>Pruebas estáticas: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s-ES" sz="1600" dirty="0"/>
              <a:t>Usando SonarQube y </a:t>
            </a:r>
            <a:r>
              <a:rPr lang="es-ES" sz="1600" dirty="0" err="1"/>
              <a:t>ESLint</a:t>
            </a:r>
            <a:r>
              <a:rPr lang="es-ES" sz="1600" dirty="0"/>
              <a:t>, detectando errores previos a la ejecución. </a:t>
            </a:r>
            <a:endParaRPr lang="es-ES" sz="1500" dirty="0">
              <a:latin typeface="DIN" pitchFamily="2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  <a:defRPr/>
            </a:pPr>
            <a:r>
              <a:rPr lang="es-ES" sz="1500" dirty="0">
                <a:latin typeface="DIN" pitchFamily="2" charset="0"/>
              </a:rPr>
              <a:t>Pruebas dinámicas: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s-ES" sz="1600" dirty="0"/>
              <a:t>Realizadas con </a:t>
            </a:r>
            <a:r>
              <a:rPr lang="es-ES" sz="1600" dirty="0" err="1"/>
              <a:t>PyTest</a:t>
            </a:r>
            <a:r>
              <a:rPr lang="es-ES" sz="1600" dirty="0"/>
              <a:t>, </a:t>
            </a:r>
            <a:r>
              <a:rPr lang="es-ES" sz="1600" dirty="0" err="1"/>
              <a:t>JUnit</a:t>
            </a:r>
            <a:r>
              <a:rPr lang="es-ES" sz="1600" dirty="0"/>
              <a:t> y </a:t>
            </a:r>
            <a:r>
              <a:rPr lang="es-ES" sz="1600" dirty="0" err="1"/>
              <a:t>Postman</a:t>
            </a:r>
            <a:r>
              <a:rPr lang="es-ES" sz="1600" dirty="0"/>
              <a:t> en tiempo real para verificar integración y funcionalidad.</a:t>
            </a:r>
            <a:endParaRPr lang="es-ES" sz="1500" dirty="0">
              <a:latin typeface="DIN" pitchFamily="2" charset="0"/>
            </a:endParaRPr>
          </a:p>
          <a:p>
            <a:pPr marL="257175" indent="-257175">
              <a:buFont typeface="Courier New" panose="02070309020205020404" pitchFamily="49" charset="0"/>
              <a:buChar char="o"/>
              <a:defRPr/>
            </a:pPr>
            <a:r>
              <a:rPr lang="es-ES" sz="1500" dirty="0">
                <a:latin typeface="DIN" pitchFamily="2" charset="0"/>
              </a:rPr>
              <a:t>Pruebas contra especificación:</a:t>
            </a:r>
          </a:p>
          <a:p>
            <a:pPr marL="257175" indent="-257175">
              <a:buFont typeface="Courier New" panose="02070309020205020404" pitchFamily="49" charset="0"/>
              <a:buChar char="o"/>
              <a:defRPr/>
            </a:pPr>
            <a:endParaRPr lang="es-CL" sz="1500" dirty="0">
              <a:latin typeface="DIN" pitchFamily="2" charset="0"/>
            </a:endParaRPr>
          </a:p>
        </p:txBody>
      </p:sp>
      <p:sp>
        <p:nvSpPr>
          <p:cNvPr id="5" name="Índice de temas">
            <a:extLst>
              <a:ext uri="{FF2B5EF4-FFF2-40B4-BE49-F238E27FC236}">
                <a16:creationId xmlns:a16="http://schemas.microsoft.com/office/drawing/2014/main" id="{D70AC6F1-505A-3045-97C2-9DB127B35C40}"/>
              </a:ext>
            </a:extLst>
          </p:cNvPr>
          <p:cNvSpPr txBox="1">
            <a:spLocks/>
          </p:cNvSpPr>
          <p:nvPr/>
        </p:nvSpPr>
        <p:spPr>
          <a:xfrm>
            <a:off x="1185356" y="280807"/>
            <a:ext cx="5400927" cy="443042"/>
          </a:xfrm>
          <a:prstGeom prst="rect">
            <a:avLst/>
          </a:prstGeom>
        </p:spPr>
        <p:txBody>
          <a:bodyPr anchor="t"/>
          <a:lstStyle>
            <a:lvl1pPr marL="0" marR="0" indent="0" algn="l" defTabSz="821531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300" baseline="0">
                <a:ln>
                  <a:noFill/>
                </a:ln>
                <a:solidFill>
                  <a:srgbClr val="343336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s-CL" sz="1800" dirty="0">
                <a:latin typeface="Saira" pitchFamily="2" charset="77"/>
              </a:rPr>
              <a:t>Pruebas del sistema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F06CD0-6BCD-DCE2-DC05-87E996BEA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987" y="2931790"/>
            <a:ext cx="5690900" cy="20584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92829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ubtítulo"/>
          <p:cNvSpPr>
            <a:spLocks noGrp="1"/>
          </p:cNvSpPr>
          <p:nvPr>
            <p:ph type="subTitle" idx="4294967295"/>
          </p:nvPr>
        </p:nvSpPr>
        <p:spPr>
          <a:xfrm>
            <a:off x="1185356" y="1384301"/>
            <a:ext cx="4846638" cy="1043434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  <a:defRPr/>
            </a:pPr>
            <a:r>
              <a:rPr lang="es-ES" sz="1500" dirty="0">
                <a:latin typeface="DIN" pitchFamily="2" charset="0"/>
              </a:rPr>
              <a:t>Al ejecutar pruebas estáticas, dinámicas y contra especificaciones, identifiqué ciertos aspectos que requerían ajustes puntuales:</a:t>
            </a:r>
          </a:p>
          <a:p>
            <a:pPr>
              <a:defRPr/>
            </a:pPr>
            <a:r>
              <a:rPr lang="es-ES" sz="1600" dirty="0"/>
              <a:t>Optimización en rendimiento de bases de datos.</a:t>
            </a:r>
          </a:p>
          <a:p>
            <a:pPr>
              <a:defRPr/>
            </a:pPr>
            <a:r>
              <a:rPr lang="es-ES" sz="1600" dirty="0"/>
              <a:t>Mejoras en balanceo de carga.</a:t>
            </a:r>
          </a:p>
          <a:p>
            <a:pPr>
              <a:defRPr/>
            </a:pPr>
            <a:r>
              <a:rPr lang="es-CL" sz="1600" dirty="0"/>
              <a:t>Fortalecimiento de la seguridad.</a:t>
            </a:r>
            <a:endParaRPr lang="es-CL" sz="1500" dirty="0">
              <a:latin typeface="DIN" pitchFamily="2" charset="0"/>
            </a:endParaRPr>
          </a:p>
        </p:txBody>
      </p:sp>
      <p:sp>
        <p:nvSpPr>
          <p:cNvPr id="5" name="Índice de temas">
            <a:extLst>
              <a:ext uri="{FF2B5EF4-FFF2-40B4-BE49-F238E27FC236}">
                <a16:creationId xmlns:a16="http://schemas.microsoft.com/office/drawing/2014/main" id="{FA8EEB2A-6A85-A54F-870F-043490CEB849}"/>
              </a:ext>
            </a:extLst>
          </p:cNvPr>
          <p:cNvSpPr txBox="1">
            <a:spLocks/>
          </p:cNvSpPr>
          <p:nvPr/>
        </p:nvSpPr>
        <p:spPr>
          <a:xfrm>
            <a:off x="1185356" y="280807"/>
            <a:ext cx="5400927" cy="443042"/>
          </a:xfrm>
          <a:prstGeom prst="rect">
            <a:avLst/>
          </a:prstGeom>
        </p:spPr>
        <p:txBody>
          <a:bodyPr anchor="t"/>
          <a:lstStyle>
            <a:lvl1pPr marL="0" marR="0" indent="0" algn="l" defTabSz="821531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300" baseline="0">
                <a:ln>
                  <a:noFill/>
                </a:ln>
                <a:solidFill>
                  <a:srgbClr val="343336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s-CL" sz="1800" dirty="0">
                <a:latin typeface="Saira" pitchFamily="2" charset="77"/>
              </a:rPr>
              <a:t>Análisis de los resultados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985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ubtítulo"/>
          <p:cNvSpPr>
            <a:spLocks noGrp="1"/>
          </p:cNvSpPr>
          <p:nvPr>
            <p:ph type="subTitle" idx="4294967295"/>
          </p:nvPr>
        </p:nvSpPr>
        <p:spPr>
          <a:xfrm>
            <a:off x="1185356" y="1384301"/>
            <a:ext cx="4846638" cy="899418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/>
            </a:pPr>
            <a:r>
              <a:rPr lang="es-CL" sz="1600" dirty="0"/>
              <a:t>Alcance de objetivos específicos.</a:t>
            </a:r>
          </a:p>
          <a:p>
            <a:pPr>
              <a:defRPr/>
            </a:pPr>
            <a:r>
              <a:rPr lang="es-CL" sz="1600" dirty="0"/>
              <a:t>Cumplimiento normativo y ético.</a:t>
            </a:r>
          </a:p>
          <a:p>
            <a:pPr>
              <a:defRPr/>
            </a:pPr>
            <a:r>
              <a:rPr lang="es-CL" sz="1600" dirty="0"/>
              <a:t>Mejora en rendimiento técnico.</a:t>
            </a:r>
          </a:p>
          <a:p>
            <a:pPr>
              <a:defRPr/>
            </a:pPr>
            <a:r>
              <a:rPr lang="es-CL" sz="1600" dirty="0"/>
              <a:t>Seguridad incrementada.</a:t>
            </a:r>
            <a:endParaRPr lang="es-CL" sz="1500" dirty="0">
              <a:latin typeface="DIN" pitchFamily="2" charset="0"/>
            </a:endParaRPr>
          </a:p>
        </p:txBody>
      </p:sp>
      <p:sp>
        <p:nvSpPr>
          <p:cNvPr id="5" name="Índice de temas">
            <a:extLst>
              <a:ext uri="{FF2B5EF4-FFF2-40B4-BE49-F238E27FC236}">
                <a16:creationId xmlns:a16="http://schemas.microsoft.com/office/drawing/2014/main" id="{9FDA18BD-ECDE-8840-B487-380EBC8CE608}"/>
              </a:ext>
            </a:extLst>
          </p:cNvPr>
          <p:cNvSpPr txBox="1">
            <a:spLocks/>
          </p:cNvSpPr>
          <p:nvPr/>
        </p:nvSpPr>
        <p:spPr>
          <a:xfrm>
            <a:off x="1185356" y="280807"/>
            <a:ext cx="5400927" cy="443042"/>
          </a:xfrm>
          <a:prstGeom prst="rect">
            <a:avLst/>
          </a:prstGeom>
        </p:spPr>
        <p:txBody>
          <a:bodyPr anchor="t"/>
          <a:lstStyle>
            <a:lvl1pPr marL="0" marR="0" indent="0" algn="l" defTabSz="821531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300" baseline="0">
                <a:ln>
                  <a:noFill/>
                </a:ln>
                <a:solidFill>
                  <a:srgbClr val="343336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s-CL" sz="1800" dirty="0">
                <a:latin typeface="Saira" pitchFamily="2" charset="77"/>
              </a:rPr>
              <a:t>Conclusiones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0496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Subtítulo"/>
          <p:cNvSpPr>
            <a:spLocks noGrp="1"/>
          </p:cNvSpPr>
          <p:nvPr>
            <p:ph type="subTitle" idx="4294967295"/>
          </p:nvPr>
        </p:nvSpPr>
        <p:spPr>
          <a:xfrm>
            <a:off x="1185356" y="1384301"/>
            <a:ext cx="4846638" cy="82741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/>
            </a:pPr>
            <a:r>
              <a:rPr lang="es-CL" sz="1600" dirty="0"/>
              <a:t>Enfoque integral de ciberseguridad.</a:t>
            </a:r>
          </a:p>
          <a:p>
            <a:pPr>
              <a:defRPr/>
            </a:pPr>
            <a:r>
              <a:rPr lang="es-CL" sz="1600" dirty="0"/>
              <a:t>Pruebas tempranas y continuas.</a:t>
            </a:r>
          </a:p>
          <a:p>
            <a:pPr>
              <a:defRPr/>
            </a:pPr>
            <a:r>
              <a:rPr lang="es-CL" sz="1600" dirty="0"/>
              <a:t>Adaptabilidad tecnológica.</a:t>
            </a:r>
          </a:p>
          <a:p>
            <a:pPr>
              <a:defRPr/>
            </a:pPr>
            <a:r>
              <a:rPr lang="es-ES" sz="1600" dirty="0"/>
              <a:t>Ética y cumplimiento legal constante.</a:t>
            </a:r>
            <a:endParaRPr lang="es-CL" sz="1500" dirty="0">
              <a:latin typeface="DIN" pitchFamily="2" charset="0"/>
            </a:endParaRPr>
          </a:p>
        </p:txBody>
      </p:sp>
      <p:sp>
        <p:nvSpPr>
          <p:cNvPr id="5" name="Índice de temas">
            <a:extLst>
              <a:ext uri="{FF2B5EF4-FFF2-40B4-BE49-F238E27FC236}">
                <a16:creationId xmlns:a16="http://schemas.microsoft.com/office/drawing/2014/main" id="{A3CF9ED5-9378-7F45-A08E-E08BD193C73F}"/>
              </a:ext>
            </a:extLst>
          </p:cNvPr>
          <p:cNvSpPr txBox="1">
            <a:spLocks/>
          </p:cNvSpPr>
          <p:nvPr/>
        </p:nvSpPr>
        <p:spPr>
          <a:xfrm>
            <a:off x="1185356" y="280807"/>
            <a:ext cx="5400927" cy="443042"/>
          </a:xfrm>
          <a:prstGeom prst="rect">
            <a:avLst/>
          </a:prstGeom>
        </p:spPr>
        <p:txBody>
          <a:bodyPr anchor="t"/>
          <a:lstStyle>
            <a:lvl1pPr marL="0" marR="0" indent="0" algn="l" defTabSz="821531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0" i="0" u="none" strike="noStrike" cap="none" spc="300" baseline="0">
                <a:ln>
                  <a:noFill/>
                </a:ln>
                <a:solidFill>
                  <a:srgbClr val="343336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r>
              <a:rPr lang="es-CL" sz="1800" dirty="0">
                <a:latin typeface="Saira" pitchFamily="2" charset="77"/>
              </a:rPr>
              <a:t>Recomendaciones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3631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86753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39E44FCC03FE44B8FDD44CB66E985C5" ma:contentTypeVersion="14" ma:contentTypeDescription="Crear nuevo documento." ma:contentTypeScope="" ma:versionID="cf304e5a045da6bef029fb33eb4a110f">
  <xsd:schema xmlns:xsd="http://www.w3.org/2001/XMLSchema" xmlns:xs="http://www.w3.org/2001/XMLSchema" xmlns:p="http://schemas.microsoft.com/office/2006/metadata/properties" xmlns:ns2="dbe6e1f7-1dac-444a-9b54-f8c42529d48c" xmlns:ns3="bd78b262-b3d9-429e-971d-31bca05ddd15" xmlns:ns4="315010d3-c083-4833-962d-37326c5b97be" targetNamespace="http://schemas.microsoft.com/office/2006/metadata/properties" ma:root="true" ma:fieldsID="801c99d4f0cd1f5b7ca21f8c1199ce14" ns2:_="" ns3:_="" ns4:_="">
    <xsd:import namespace="dbe6e1f7-1dac-444a-9b54-f8c42529d48c"/>
    <xsd:import namespace="bd78b262-b3d9-429e-971d-31bca05ddd15"/>
    <xsd:import namespace="315010d3-c083-4833-962d-37326c5b97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4:SharedWithDetails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e6e1f7-1dac-444a-9b54-f8c42529d4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78b262-b3d9-429e-971d-31bca05ddd1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010d3-c083-4833-962d-37326c5b97be" elementFormDefault="qualified">
    <xsd:import namespace="http://schemas.microsoft.com/office/2006/documentManagement/types"/>
    <xsd:import namespace="http://schemas.microsoft.com/office/infopath/2007/PartnerControls"/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" ma:displayName="Tipo de conteni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091720-7BDF-4B12-8CF7-9496FF081106}">
  <ds:schemaRefs>
    <ds:schemaRef ds:uri="http://schemas.microsoft.com/office/2006/metadata/properties"/>
    <ds:schemaRef ds:uri="http://purl.org/dc/elements/1.1/"/>
    <ds:schemaRef ds:uri="http://schemas.microsoft.com/office/infopath/2007/PartnerControls"/>
    <ds:schemaRef ds:uri="315010d3-c083-4833-962d-37326c5b97be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bd78b262-b3d9-429e-971d-31bca05ddd15"/>
    <ds:schemaRef ds:uri="dbe6e1f7-1dac-444a-9b54-f8c42529d48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278E39E-72A5-4268-A43E-CED35DBDEB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870B53-79F5-4F90-8EC5-E98F4CD272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e6e1f7-1dac-444a-9b54-f8c42529d48c"/>
    <ds:schemaRef ds:uri="bd78b262-b3d9-429e-971d-31bca05ddd15"/>
    <ds:schemaRef ds:uri="315010d3-c083-4833-962d-37326c5b97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558</Words>
  <Application>Microsoft Office PowerPoint</Application>
  <PresentationFormat>Presentación en pantalla (16:9)</PresentationFormat>
  <Paragraphs>62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Courier New</vt:lpstr>
      <vt:lpstr>DIN</vt:lpstr>
      <vt:lpstr>Saira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ALIAGA VICTOR</dc:creator>
  <cp:lastModifiedBy>Juan Rochat</cp:lastModifiedBy>
  <cp:revision>78</cp:revision>
  <cp:lastPrinted>2012-10-25T14:43:55Z</cp:lastPrinted>
  <dcterms:created xsi:type="dcterms:W3CDTF">2011-01-20T15:13:19Z</dcterms:created>
  <dcterms:modified xsi:type="dcterms:W3CDTF">2025-06-29T01:50:45Z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A382B032-F96F-4EB6-ACE4-B2E9B12621C0</vt:lpwstr>
  </property>
  <property fmtid="{D5CDD505-2E9C-101B-9397-08002B2CF9AE}" pid="3" name="ArticulatePath">
    <vt:lpwstr>plantilla_ presentacion_examen VERSION FINAL</vt:lpwstr>
  </property>
  <property fmtid="{D5CDD505-2E9C-101B-9397-08002B2CF9AE}" pid="4" name="ContentTypeId">
    <vt:lpwstr>0x010100B39E44FCC03FE44B8FDD44CB66E985C5</vt:lpwstr>
  </property>
  <property fmtid="{D5CDD505-2E9C-101B-9397-08002B2CF9AE}" pid="5" name="MSIP_Label_2547b8a3-ac18-4287-b28a-c115cfe9803a_Enabled">
    <vt:lpwstr>true</vt:lpwstr>
  </property>
  <property fmtid="{D5CDD505-2E9C-101B-9397-08002B2CF9AE}" pid="6" name="MSIP_Label_2547b8a3-ac18-4287-b28a-c115cfe9803a_SetDate">
    <vt:lpwstr>2024-02-20T16:05:48Z</vt:lpwstr>
  </property>
  <property fmtid="{D5CDD505-2E9C-101B-9397-08002B2CF9AE}" pid="7" name="MSIP_Label_2547b8a3-ac18-4287-b28a-c115cfe9803a_Method">
    <vt:lpwstr>Standard</vt:lpwstr>
  </property>
  <property fmtid="{D5CDD505-2E9C-101B-9397-08002B2CF9AE}" pid="8" name="MSIP_Label_2547b8a3-ac18-4287-b28a-c115cfe9803a_Name">
    <vt:lpwstr>Público</vt:lpwstr>
  </property>
  <property fmtid="{D5CDD505-2E9C-101B-9397-08002B2CF9AE}" pid="9" name="MSIP_Label_2547b8a3-ac18-4287-b28a-c115cfe9803a_SiteId">
    <vt:lpwstr>4fd56a46-8498-4360-9d3e-bbb677303c73</vt:lpwstr>
  </property>
  <property fmtid="{D5CDD505-2E9C-101B-9397-08002B2CF9AE}" pid="10" name="MSIP_Label_2547b8a3-ac18-4287-b28a-c115cfe9803a_ActionId">
    <vt:lpwstr>4a5ee8e4-c4f2-4836-852c-bf2801a7435d</vt:lpwstr>
  </property>
  <property fmtid="{D5CDD505-2E9C-101B-9397-08002B2CF9AE}" pid="11" name="MSIP_Label_2547b8a3-ac18-4287-b28a-c115cfe9803a_ContentBits">
    <vt:lpwstr>0</vt:lpwstr>
  </property>
</Properties>
</file>